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 i="0">
                <a:solidFill>
                  <a:srgbClr val="E8EAED"/>
                </a:solidFill>
                <a:latin typeface="Segoe UI"/>
              </a:rPr>
              <a:t>Municipal Law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632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5B9DFF"/>
                </a:solidFill>
                <a:latin typeface="Segoe UI"/>
              </a:rPr>
              <a:t>for Autonomous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9AA4B2"/>
                </a:solidFill>
                <a:latin typeface="Segoe UI"/>
              </a:rPr>
              <a:t>Deterministic, citation-backed municipal law retrieval — no LLM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9AA4B2"/>
                </a:solidFill>
                <a:latin typeface="Segoe UI"/>
              </a:rPr>
              <a:t>NANDA Town · MIT Reality Hackathon 2026</a:t>
            </a:r>
          </a:p>
          <a:p>
            <a:pPr algn="ctr"/>
            <a:r>
              <a:rPr sz="1400" b="1" i="0">
                <a:solidFill>
                  <a:srgbClr val="7EE0C3"/>
                </a:solidFill>
                <a:latin typeface="Segoe UI"/>
              </a:rPr>
              <a:t>https://nanda-municipal-laws.vercel.app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AI agents hallucinate municipal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Popular internet myth: “NYC caps backyard chickens at 6 hens”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The real statute (§161.19) states no such number — it only prohibits roosters, ducks, geese, and turkeys, with narrow exceptions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Agents relying on an LLM's training data repeat exactly this kind of confident, wrong answer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Legal citations need to come from the actual code — not a model's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The capability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10332720" cy="1463040"/>
          </a:xfrm>
          <a:prstGeom prst="rect">
            <a:avLst/>
          </a:prstGeom>
          <a:solidFill>
            <a:srgbClr val="12151C"/>
          </a:solidFill>
          <a:ln w="19050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000" b="1" i="1">
                <a:solidFill>
                  <a:srgbClr val="7EE0C3"/>
                </a:solidFill>
                <a:latin typeface="Segoe UI"/>
              </a:rPr>
              <a:t>“A deterministic municipal law skill that any AI agent can invoke to obtain grounded, citation-backed legal evidence from the complete NYC Administrative and Health Codes.”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E8EAED"/>
                </a:solidFill>
                <a:latin typeface="Segoe UI"/>
              </a:rPr>
              <a:t>▸  No LLM calls, ever — nothing for the service itself to hallucinate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E8EAED"/>
                </a:solidFill>
                <a:latin typeface="Segoe UI"/>
              </a:rPr>
              <a:t>▸  Same query → same citations → same ordering, every time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E8EAED"/>
                </a:solidFill>
                <a:latin typeface="Segoe UI"/>
              </a:rPr>
              <a:t>▸  The calling agent performs the reasoning; this service only supplies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377440"/>
            <a:ext cx="1412138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EAED"/>
                </a:solidFill>
                <a:latin typeface="Segoe UI"/>
              </a:rPr>
              <a:t>Official NYC sources (nyc.gov, nycadmincode.readthedocs.io)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6538" y="2606040"/>
            <a:ext cx="30998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519" y="2377440"/>
            <a:ext cx="1412138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Crawler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8657" y="2606040"/>
            <a:ext cx="30998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8638" y="2377440"/>
            <a:ext cx="1412138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Normalization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0776" y="2606040"/>
            <a:ext cx="30998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57" y="2377440"/>
            <a:ext cx="1412138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MongoDB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2895" y="2606040"/>
            <a:ext cx="30998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02876" y="2377440"/>
            <a:ext cx="1412138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15014" y="2606040"/>
            <a:ext cx="30998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24995" y="2377440"/>
            <a:ext cx="1412138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EAED"/>
                </a:solidFill>
                <a:latin typeface="Segoe UI"/>
              </a:rPr>
              <a:t>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1">
                <a:solidFill>
                  <a:srgbClr val="7EE0C3"/>
                </a:solidFill>
                <a:latin typeface="Segoe UI"/>
              </a:rPr>
              <a:t>The service never generates legal advice — only official text and citations.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The complete corpus, not a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4892040" cy="25603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 b="1" i="0">
                <a:solidFill>
                  <a:srgbClr val="9AA4B2"/>
                </a:solidFill>
                <a:latin typeface="Segoe UI"/>
              </a:rPr>
              <a:t>NYC Administrative Code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32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Titles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4,781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Sections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60" y="1828800"/>
            <a:ext cx="4892040" cy="25603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 b="1" i="0">
                <a:solidFill>
                  <a:srgbClr val="9AA4B2"/>
                </a:solidFill>
                <a:latin typeface="Segoe UI"/>
              </a:rPr>
              <a:t>NYC Health Code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36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Articles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501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1">
                <a:solidFill>
                  <a:srgbClr val="7EE0C3"/>
                </a:solidFill>
                <a:latin typeface="Segoe UI"/>
              </a:rPr>
              <a:t>668 source documents · 10,702 searchable chunks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Agent-facing APIs — Legal Determination &amp; 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7315200"/>
              </a:tblGrid>
              <a:tr h="1074420"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Endpoint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</a:tr>
              <a:tr h="10744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/is_action_allowed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Headline capability — yes/no legality check on a described action. Returns allowed, conditions, citations, reasoning, confidence.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10744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/search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General keyword lookup across the entire corpus — filterable by title, chapter, document_type, agency, or topic.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  <a:tr h="10744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/sections/{id}/term_map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Highlight exactly where search terms occur within a section — built for search-results/demo UI rendering.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Agent-facing APIs — Lookup &amp; Cross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7315200"/>
              </a:tblGrid>
              <a:tr h="859536"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Endpoint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/sections/{id}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Exact section retrieval by number — full untruncated text plus a deterministic structural summary.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/sections/{id}/related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Resolve a section's own cross-references into their citations — a one-hop citation graph.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/documents/{id}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Metadata for a source document (an Admin Code chapter or Health Code article).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/documents/{id}/chunks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Every section belonging to one document, in order.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Agent-facing APIs — Penalties &amp; Permits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7315200"/>
              </a:tblGrid>
              <a:tr h="1432560"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Endpoint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</a:tr>
              <a:tr h="143256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/penalties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Find sections flagged as mentioning a penalty or fine — for enforcement-related questions.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143256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/permits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Find sections flagged as requiring a permit or license.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Administration &amp; operational endpoints</a:t>
            </a:r>
          </a:p>
          <a:p>
            <a:r>
              <a:rPr sz="1400" b="0" i="1">
                <a:solidFill>
                  <a:srgbClr val="9AA4B2"/>
                </a:solidFill>
                <a:latin typeface="Segoe UI"/>
              </a:rPr>
              <a:t>Kept separate from the agent-facing retrieval surface above — not part of the reasoning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1168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7315200"/>
              </a:tblGrid>
              <a:tr h="859536"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Endpoint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/health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Liveness check — reports MongoDB reachability.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/version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Deployed app version, plus corpus freshness: last-ingested date and age in days.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/pubkey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Ed25519 public key for verifying a signed response's provenance offline.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859536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/ingest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Fetch, parse, and persist new source documents. Operational only, API-key gated — not for agent use.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Story 1 — A resident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1">
                <a:solidFill>
                  <a:srgbClr val="7EE0C3"/>
                </a:solidFill>
                <a:latin typeface="Segoe UI"/>
              </a:rPr>
              <a:t>“Can I keep backyard chickens?”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0" i="0">
                <a:solidFill>
                  <a:srgbClr val="E8EAED"/>
                </a:solidFill>
                <a:latin typeface="Segoe UI"/>
              </a:rPr>
              <a:t>1.  Agent calls POST /is_action_allowed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84048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0" i="0">
                <a:solidFill>
                  <a:srgbClr val="E8EAED"/>
                </a:solidFill>
                <a:latin typeface="Segoe UI"/>
              </a:rPr>
              <a:t>2.  allowed: true (confidence: medium) — citing §161.19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1" i="0">
                <a:solidFill>
                  <a:srgbClr val="E8EAED"/>
                </a:solidFill>
                <a:latin typeface="Segoe UI"/>
              </a:rPr>
              <a:t>3.  Agent answers: “Yes, but roosters are prohibited citywide”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Story 2 — A food vendor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1">
                <a:solidFill>
                  <a:srgbClr val="7EE0C3"/>
                </a:solidFill>
                <a:latin typeface="Segoe UI"/>
              </a:rPr>
              <a:t>“What permit do I need to operate a mobile food cart?”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0" i="0">
                <a:solidFill>
                  <a:srgbClr val="E8EAED"/>
                </a:solidFill>
                <a:latin typeface="Segoe UI"/>
              </a:rPr>
              <a:t>1.  Agent calls POST /permits {"query": "mobile food vending unit license permit"}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84048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0" i="0">
                <a:solidFill>
                  <a:srgbClr val="E8EAED"/>
                </a:solidFill>
                <a:latin typeface="Segoe UI"/>
              </a:rPr>
              <a:t>2.  Top result: §89.11 “Applications for permits and licenses” (Mobile Food Vending)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1" i="0">
                <a:solidFill>
                  <a:srgbClr val="E8EAED"/>
                </a:solidFill>
                <a:latin typeface="Segoe UI"/>
              </a:rPr>
              <a:t>3.  Agent answers: “You need a vending permit/license under §89.11 — fees are set by §17-308”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Story 3 — A building owner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1">
                <a:solidFill>
                  <a:srgbClr val="7EE0C3"/>
                </a:solidFill>
                <a:latin typeface="Segoe UI"/>
              </a:rPr>
              <a:t>“What's the penalty if I dump construction debris illegally?”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0" i="0">
                <a:solidFill>
                  <a:srgbClr val="E8EAED"/>
                </a:solidFill>
                <a:latin typeface="Segoe UI"/>
              </a:rPr>
              <a:t>1.  Agent calls POST /penalties → GET /sections/16-119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84048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0" i="0">
                <a:solidFill>
                  <a:srgbClr val="E8EAED"/>
                </a:solidFill>
                <a:latin typeface="Segoe UI"/>
              </a:rPr>
              <a:t>2.  §16-119 “Dumping prohibited” — misdemeanor, $1,500–$10,000 civil penalty, vehicle impoundment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10332720" cy="960120"/>
          </a:xfrm>
          <a:prstGeom prst="rect">
            <a:avLst/>
          </a:prstGeom>
          <a:solidFill>
            <a:srgbClr val="12151C"/>
          </a:solidFill>
          <a:ln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600" b="1" i="0">
                <a:solidFill>
                  <a:srgbClr val="E8EAED"/>
                </a:solidFill>
                <a:latin typeface="Segoe UI"/>
              </a:rPr>
              <a:t>3.  Agent answers with real dollar figures, straight from the statute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Engineering: bugs found and fixed, not just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Naive substring search: “fine” matched inside “defined” — fixed with word-boundary matching everywhere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36 Health Code PDFs, each formatted slightly differently — parser normalized and verified section-by-section against real text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The “6 hens” myth — a regression test locks in the true statute text, forever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Trust &amp;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Every /is_action_allowed and /search response is Ed25519-signed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/pubkey lets any downstream agent verify offline that this service — not a relay or a cache — produced a citation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/version reports corpus freshness — law goes stale, and callers can know exactly how stale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Same query → same citations → same ordering — no randomness, 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Why NANDA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10332720" cy="1463040"/>
          </a:xfrm>
          <a:prstGeom prst="rect">
            <a:avLst/>
          </a:prstGeom>
          <a:solidFill>
            <a:srgbClr val="12151C"/>
          </a:solidFill>
          <a:ln w="19050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000" b="1" i="1">
                <a:solidFill>
                  <a:srgbClr val="7EE0C3"/>
                </a:solidFill>
                <a:latin typeface="Segoe UI"/>
              </a:rPr>
              <a:t>“This skill lets any autonomous agent in NANDA Town answer municipal-law questions using authoritative legal sources — instead of relying on an LLM's memory.”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E8EAED"/>
                </a:solidFill>
                <a:latin typeface="Segoe UI"/>
              </a:rPr>
              <a:t>▸  Composable by design — the last hop in a chain started by another skill (a 311 complaint, a permit application, a code-enforcement lead)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E8EAED"/>
                </a:solidFill>
                <a:latin typeface="Segoe UI"/>
              </a:rPr>
              <a:t>▸  Any agent that can call an HTTP endpoint can invoke it, per SKILL.md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8EAED"/>
                </a:solidFill>
                <a:latin typeface="Segoe UI"/>
              </a:rPr>
              <a:t>Agent-ready. Deterministic. Citation-backed.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03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 i="0">
                <a:solidFill>
                  <a:srgbClr val="7EE0C3"/>
                </a:solidFill>
                <a:latin typeface="Segoe UI"/>
              </a:rPr>
              <a:t>4,781 NYC Administrative Code sections</a:t>
            </a:r>
          </a:p>
          <a:p>
            <a:pPr algn="ctr">
              <a:spcAft>
                <a:spcPts val="1000"/>
              </a:spcAft>
            </a:pPr>
            <a:r>
              <a:rPr sz="1800" b="0" i="0">
                <a:solidFill>
                  <a:srgbClr val="7EE0C3"/>
                </a:solidFill>
                <a:latin typeface="Segoe UI"/>
              </a:rPr>
              <a:t>501 NYC Health Code sections</a:t>
            </a:r>
          </a:p>
          <a:p>
            <a:pPr algn="ctr">
              <a:spcAft>
                <a:spcPts val="1000"/>
              </a:spcAft>
            </a:pPr>
            <a:r>
              <a:rPr sz="1800" b="0" i="0">
                <a:solidFill>
                  <a:srgbClr val="7EE0C3"/>
                </a:solidFill>
                <a:latin typeface="Segoe UI"/>
              </a:rPr>
              <a:t>No hallucinations — grounded by citations, every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https://nanda-municipal-laws.vercel.app</a:t>
            </a:r>
          </a:p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https://github.com/swamx/nanda-municipal-laws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