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 i="0">
                <a:solidFill>
                  <a:srgbClr val="E8EAED"/>
                </a:solidFill>
                <a:latin typeface="Segoe UI"/>
              </a:rPr>
              <a:t>Municipal Law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5B9DFF"/>
                </a:solidFill>
                <a:latin typeface="Segoe UI"/>
              </a:rPr>
              <a:t>for Autonomous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0"/>
            <a:ext cx="9418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9AA4B2"/>
                </a:solidFill>
                <a:latin typeface="Segoe UI"/>
              </a:rPr>
              <a:t>An agent-ready municipal law skill providing deterministic, citation-backed legal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9AA4B2"/>
                </a:solidFill>
                <a:latin typeface="Segoe UI"/>
              </a:rPr>
              <a:t>NANDA Town · MIT Reality Hackathon 2026</a:t>
            </a:r>
          </a:p>
          <a:p>
            <a:pPr algn="ctr"/>
            <a:r>
              <a:rPr sz="1400" b="1" i="0">
                <a:solidFill>
                  <a:srgbClr val="7EE0C3"/>
                </a:solidFill>
                <a:latin typeface="Segoe UI"/>
              </a:rPr>
              <a:t>https://nanda-municipal-laws.vercel.app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8EAED"/>
                </a:solidFill>
                <a:latin typeface="Segoe UI"/>
              </a:rPr>
              <a:t>AI agents hallucinate municipal law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011680" cy="38100"/>
          </a:xfrm>
          <a:prstGeom prst="rect">
            <a:avLst/>
          </a:prstGeom>
          <a:solidFill>
            <a:srgbClr val="5B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4709160" cy="1828800"/>
          </a:xfrm>
          <a:prstGeom prst="rect">
            <a:avLst/>
          </a:prstGeom>
          <a:solidFill>
            <a:srgbClr val="12151C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 i="0">
                <a:solidFill>
                  <a:srgbClr val="FF6B6B"/>
                </a:solidFill>
                <a:latin typeface="Segoe UI"/>
              </a:rPr>
              <a:t>✗</a:t>
            </a:r>
          </a:p>
          <a:p>
            <a:pPr algn="ctr"/>
            <a:r>
              <a:rPr sz="1300" b="0" i="0">
                <a:solidFill>
                  <a:srgbClr val="9AA4B2"/>
                </a:solidFill>
                <a:latin typeface="Segoe UI"/>
              </a:rPr>
              <a:t>Internet folklore</a:t>
            </a:r>
          </a:p>
          <a:p>
            <a:pPr algn="ctr"/>
            <a:r>
              <a:rPr sz="2000" b="1" i="0">
                <a:solidFill>
                  <a:srgbClr val="FF6B6B"/>
                </a:solidFill>
                <a:latin typeface="Segoe UI"/>
              </a:rPr>
              <a:t>“You may keep up to six hens.”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40680" y="1737360"/>
            <a:ext cx="5486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5B9DFF"/>
                </a:solidFill>
                <a:latin typeface="Segoe UI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0" y="1737360"/>
            <a:ext cx="4709160" cy="1828800"/>
          </a:xfrm>
          <a:prstGeom prst="rect">
            <a:avLst/>
          </a:prstGeom>
          <a:solidFill>
            <a:srgbClr val="12151C"/>
          </a:solidFill>
          <a:ln w="19050">
            <a:solidFill>
              <a:srgbClr val="7EE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 i="0">
                <a:solidFill>
                  <a:srgbClr val="7EE0C3"/>
                </a:solidFill>
                <a:latin typeface="Segoe UI"/>
              </a:rPr>
              <a:t>✓</a:t>
            </a:r>
          </a:p>
          <a:p>
            <a:pPr algn="ctr"/>
            <a:r>
              <a:rPr sz="1300" b="0" i="0">
                <a:solidFill>
                  <a:srgbClr val="9AA4B2"/>
                </a:solidFill>
                <a:latin typeface="Segoe UI"/>
              </a:rPr>
              <a:t>NYC Health Code §161.19 (the real statute)</a:t>
            </a:r>
          </a:p>
          <a:p>
            <a:pPr algn="ctr"/>
            <a:r>
              <a:rPr sz="2000" b="1" i="0">
                <a:solidFill>
                  <a:srgbClr val="7EE0C3"/>
                </a:solidFill>
                <a:latin typeface="Segoe UI"/>
              </a:rPr>
              <a:t>No such limit exists.</a:t>
            </a:r>
          </a:p>
          <a:p>
            <a:pPr algn="ctr"/>
            <a:r>
              <a:rPr sz="1200" b="0" i="0">
                <a:solidFill>
                  <a:srgbClr val="9AA4B2"/>
                </a:solidFill>
                <a:latin typeface="Segoe UI"/>
              </a:rPr>
              <a:t>Only certain birds (roosters, ducks, geese, turkeys) are prohibited — with narrow exceptions. Nothing restricts hens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0">
                <a:solidFill>
                  <a:srgbClr val="9AA4B2"/>
                </a:solidFill>
                <a:latin typeface="Segoe UI"/>
              </a:rPr>
              <a:t>Agents relying on an LLM's training data repeat exactly this kind of confident, wrong answer. Legal citations need to come from the actual code — not a model's memory.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9AA4B2"/>
                </a:solidFill>
                <a:latin typeface="Segoe UI"/>
              </a:rPr>
              <a:t>Municipal Law Skill for Autonomous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Segoe UI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8EAED"/>
                </a:solidFill>
                <a:latin typeface="Segoe UI"/>
              </a:rPr>
              <a:t>The capability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011680" cy="38100"/>
          </a:xfrm>
          <a:prstGeom prst="rect">
            <a:avLst/>
          </a:prstGeom>
          <a:solidFill>
            <a:srgbClr val="5B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10332720" cy="1463040"/>
          </a:xfrm>
          <a:prstGeom prst="rect">
            <a:avLst/>
          </a:prstGeom>
          <a:solidFill>
            <a:srgbClr val="12151C"/>
          </a:solidFill>
          <a:ln w="19050">
            <a:solidFill>
              <a:srgbClr val="5B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2000" b="1" i="1">
                <a:solidFill>
                  <a:srgbClr val="7EE0C3"/>
                </a:solidFill>
                <a:latin typeface="Segoe UI"/>
              </a:rPr>
              <a:t>“A deterministic municipal law skill that any AI agent can invoke to obtain grounded, citation-backed legal evidence from the complete NYC Administrative and Health Codes.”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800" b="0" i="0">
                <a:solidFill>
                  <a:srgbClr val="E8EAED"/>
                </a:solidFill>
                <a:latin typeface="Segoe UI"/>
              </a:rPr>
              <a:t>▸  No LLM calls, ever — nothing for the service itself to hallucinate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E8EAED"/>
                </a:solidFill>
                <a:latin typeface="Segoe UI"/>
              </a:rPr>
              <a:t>▸  Same query → same citations → same ordering, every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846320"/>
            <a:ext cx="10332720" cy="822960"/>
          </a:xfrm>
          <a:prstGeom prst="rect">
            <a:avLst/>
          </a:prstGeom>
          <a:solidFill>
            <a:srgbClr val="5B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0B0D12"/>
                </a:solidFill>
                <a:latin typeface="Segoe UI"/>
              </a:rPr>
              <a:t>The service never generates answers. It only returns legal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9AA4B2"/>
                </a:solidFill>
                <a:latin typeface="Segoe UI"/>
              </a:rPr>
              <a:t>Municipal Law Skill for Autonomous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Segoe UI"/>
              </a:rP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8EAED"/>
                </a:solidFill>
                <a:latin typeface="Segoe UI"/>
              </a:rPr>
              <a:t>Story 1 — A resident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011680" cy="38100"/>
          </a:xfrm>
          <a:prstGeom prst="rect">
            <a:avLst/>
          </a:prstGeom>
          <a:solidFill>
            <a:srgbClr val="5B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1">
                <a:solidFill>
                  <a:srgbClr val="7EE0C3"/>
                </a:solidFill>
                <a:latin typeface="Segoe UI"/>
              </a:rPr>
              <a:t>“Can I keep backyard chickens?”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377440"/>
            <a:ext cx="10332720" cy="777240"/>
          </a:xfrm>
          <a:prstGeom prst="rect">
            <a:avLst/>
          </a:prstGeom>
          <a:solidFill>
            <a:srgbClr val="12151C"/>
          </a:solidFill>
          <a:ln>
            <a:solidFill>
              <a:srgbClr val="26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0" i="0">
                <a:solidFill>
                  <a:srgbClr val="E8EAED"/>
                </a:solidFill>
                <a:latin typeface="Segoe UI"/>
              </a:rPr>
              <a:t>1.  User asks the agent a plain-language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30880"/>
            <a:ext cx="10332720" cy="777240"/>
          </a:xfrm>
          <a:prstGeom prst="rect">
            <a:avLst/>
          </a:prstGeom>
          <a:solidFill>
            <a:srgbClr val="12151C"/>
          </a:solidFill>
          <a:ln>
            <a:solidFill>
              <a:srgbClr val="26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0" i="0">
                <a:solidFill>
                  <a:srgbClr val="E8EAED"/>
                </a:solidFill>
                <a:latin typeface="Segoe UI"/>
              </a:rPr>
              <a:t>2.  Agent calls POST /is_action_allowed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084320"/>
            <a:ext cx="10332720" cy="777240"/>
          </a:xfrm>
          <a:prstGeom prst="rect">
            <a:avLst/>
          </a:prstGeom>
          <a:solidFill>
            <a:srgbClr val="12151C"/>
          </a:solidFill>
          <a:ln>
            <a:solidFill>
              <a:srgbClr val="26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0" i="0">
                <a:solidFill>
                  <a:srgbClr val="E8EAED"/>
                </a:solidFill>
                <a:latin typeface="Segoe UI"/>
              </a:rPr>
              <a:t>3.  Evidence returned: allowed:true (confidence: medium)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937760"/>
            <a:ext cx="10332720" cy="777240"/>
          </a:xfrm>
          <a:prstGeom prst="rect">
            <a:avLst/>
          </a:prstGeom>
          <a:solidFill>
            <a:srgbClr val="12151C"/>
          </a:solidFill>
          <a:ln>
            <a:solidFill>
              <a:srgbClr val="5B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 i="0">
                <a:solidFill>
                  <a:srgbClr val="E8EAED"/>
                </a:solidFill>
                <a:latin typeface="Segoe UI"/>
              </a:rPr>
              <a:t>4.  Agent answers: “Yes, but roosters are prohibited citywide”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82640"/>
            <a:ext cx="10332720" cy="914400"/>
          </a:xfrm>
          <a:prstGeom prst="rect">
            <a:avLst/>
          </a:prstGeom>
          <a:solidFill>
            <a:srgbClr val="12151C"/>
          </a:solidFill>
          <a:ln w="25400">
            <a:solidFill>
              <a:srgbClr val="7EE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AA4B2"/>
                </a:solidFill>
                <a:latin typeface="Segoe UI"/>
              </a:rPr>
              <a:t>Returned citation</a:t>
            </a:r>
          </a:p>
          <a:p>
            <a:pPr algn="ctr"/>
            <a:r>
              <a:rPr sz="2400" b="1" i="0">
                <a:solidFill>
                  <a:srgbClr val="7EE0C3"/>
                </a:solidFill>
                <a:latin typeface="Segoe UI"/>
              </a:rPr>
              <a:t>NYC Health Code §161.19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9AA4B2"/>
                </a:solidFill>
                <a:latin typeface="Segoe UI"/>
              </a:rPr>
              <a:t>Municipal Law Skill for Autonomous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Segoe UI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8EAED"/>
                </a:solidFill>
                <a:latin typeface="Segoe UI"/>
              </a:rPr>
              <a:t>Story 2 — A food vendor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011680" cy="38100"/>
          </a:xfrm>
          <a:prstGeom prst="rect">
            <a:avLst/>
          </a:prstGeom>
          <a:solidFill>
            <a:srgbClr val="5B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1">
                <a:solidFill>
                  <a:srgbClr val="7EE0C3"/>
                </a:solidFill>
                <a:latin typeface="Segoe UI"/>
              </a:rPr>
              <a:t>“What permit do I need to operate a mobile food cart?”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377440"/>
            <a:ext cx="10332720" cy="777240"/>
          </a:xfrm>
          <a:prstGeom prst="rect">
            <a:avLst/>
          </a:prstGeom>
          <a:solidFill>
            <a:srgbClr val="12151C"/>
          </a:solidFill>
          <a:ln>
            <a:solidFill>
              <a:srgbClr val="26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0" i="0">
                <a:solidFill>
                  <a:srgbClr val="E8EAED"/>
                </a:solidFill>
                <a:latin typeface="Segoe UI"/>
              </a:rPr>
              <a:t>1.  User asks the agent a plain-language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30880"/>
            <a:ext cx="10332720" cy="777240"/>
          </a:xfrm>
          <a:prstGeom prst="rect">
            <a:avLst/>
          </a:prstGeom>
          <a:solidFill>
            <a:srgbClr val="12151C"/>
          </a:solidFill>
          <a:ln>
            <a:solidFill>
              <a:srgbClr val="26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0" i="0">
                <a:solidFill>
                  <a:srgbClr val="E8EAED"/>
                </a:solidFill>
                <a:latin typeface="Segoe UI"/>
              </a:rPr>
              <a:t>2.  Agent calls POST /permits {"query": "mobile food vending unit license permit"}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084320"/>
            <a:ext cx="10332720" cy="777240"/>
          </a:xfrm>
          <a:prstGeom prst="rect">
            <a:avLst/>
          </a:prstGeom>
          <a:solidFill>
            <a:srgbClr val="12151C"/>
          </a:solidFill>
          <a:ln>
            <a:solidFill>
              <a:srgbClr val="26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0" i="0">
                <a:solidFill>
                  <a:srgbClr val="E8EAED"/>
                </a:solidFill>
                <a:latin typeface="Segoe UI"/>
              </a:rPr>
              <a:t>3.  Evidence returned: §89.11 “Applications for permits and licenses”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937760"/>
            <a:ext cx="10332720" cy="777240"/>
          </a:xfrm>
          <a:prstGeom prst="rect">
            <a:avLst/>
          </a:prstGeom>
          <a:solidFill>
            <a:srgbClr val="12151C"/>
          </a:solidFill>
          <a:ln>
            <a:solidFill>
              <a:srgbClr val="5B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 i="0">
                <a:solidFill>
                  <a:srgbClr val="E8EAED"/>
                </a:solidFill>
                <a:latin typeface="Segoe UI"/>
              </a:rPr>
              <a:t>4.  Agent answers: “You need a vending permit/license under §89.11 — fees are set by §17-308”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82640"/>
            <a:ext cx="10332720" cy="914400"/>
          </a:xfrm>
          <a:prstGeom prst="rect">
            <a:avLst/>
          </a:prstGeom>
          <a:solidFill>
            <a:srgbClr val="12151C"/>
          </a:solidFill>
          <a:ln w="25400">
            <a:solidFill>
              <a:srgbClr val="7EE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AA4B2"/>
                </a:solidFill>
                <a:latin typeface="Segoe UI"/>
              </a:rPr>
              <a:t>Returned citation</a:t>
            </a:r>
          </a:p>
          <a:p>
            <a:pPr algn="ctr"/>
            <a:r>
              <a:rPr sz="2400" b="1" i="0">
                <a:solidFill>
                  <a:srgbClr val="7EE0C3"/>
                </a:solidFill>
                <a:latin typeface="Segoe UI"/>
              </a:rPr>
              <a:t>NYC Health Code §89.11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9AA4B2"/>
                </a:solidFill>
                <a:latin typeface="Segoe UI"/>
              </a:rPr>
              <a:t>Municipal Law Skill for Autonomous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Segoe UI"/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8EAED"/>
                </a:solidFill>
                <a:latin typeface="Segoe UI"/>
              </a:rPr>
              <a:t>Story 3 — A building owner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011680" cy="38100"/>
          </a:xfrm>
          <a:prstGeom prst="rect">
            <a:avLst/>
          </a:prstGeom>
          <a:solidFill>
            <a:srgbClr val="5B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1">
                <a:solidFill>
                  <a:srgbClr val="7EE0C3"/>
                </a:solidFill>
                <a:latin typeface="Segoe UI"/>
              </a:rPr>
              <a:t>“What's the penalty if I dump construction debris illegally?”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377440"/>
            <a:ext cx="10332720" cy="777240"/>
          </a:xfrm>
          <a:prstGeom prst="rect">
            <a:avLst/>
          </a:prstGeom>
          <a:solidFill>
            <a:srgbClr val="12151C"/>
          </a:solidFill>
          <a:ln>
            <a:solidFill>
              <a:srgbClr val="26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0" i="0">
                <a:solidFill>
                  <a:srgbClr val="E8EAED"/>
                </a:solidFill>
                <a:latin typeface="Segoe UI"/>
              </a:rPr>
              <a:t>1.  User asks the agent a plain-language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30880"/>
            <a:ext cx="10332720" cy="777240"/>
          </a:xfrm>
          <a:prstGeom prst="rect">
            <a:avLst/>
          </a:prstGeom>
          <a:solidFill>
            <a:srgbClr val="12151C"/>
          </a:solidFill>
          <a:ln>
            <a:solidFill>
              <a:srgbClr val="26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0" i="0">
                <a:solidFill>
                  <a:srgbClr val="E8EAED"/>
                </a:solidFill>
                <a:latin typeface="Segoe UI"/>
              </a:rPr>
              <a:t>2.  Agent calls POST /penalties → GET /sections/16-119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084320"/>
            <a:ext cx="10332720" cy="777240"/>
          </a:xfrm>
          <a:prstGeom prst="rect">
            <a:avLst/>
          </a:prstGeom>
          <a:solidFill>
            <a:srgbClr val="12151C"/>
          </a:solidFill>
          <a:ln>
            <a:solidFill>
              <a:srgbClr val="26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0" i="0">
                <a:solidFill>
                  <a:srgbClr val="E8EAED"/>
                </a:solidFill>
                <a:latin typeface="Segoe UI"/>
              </a:rPr>
              <a:t>3.  Evidence returned: §16-119 “Dumping prohibited” — misdemeanor, vehicle impoundment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937760"/>
            <a:ext cx="10332720" cy="777240"/>
          </a:xfrm>
          <a:prstGeom prst="rect">
            <a:avLst/>
          </a:prstGeom>
          <a:solidFill>
            <a:srgbClr val="12151C"/>
          </a:solidFill>
          <a:ln>
            <a:solidFill>
              <a:srgbClr val="5B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 i="0">
                <a:solidFill>
                  <a:srgbClr val="E8EAED"/>
                </a:solidFill>
                <a:latin typeface="Segoe UI"/>
              </a:rPr>
              <a:t>4.  Agent answers with real dollar figures, straight from the statute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82640"/>
            <a:ext cx="10332720" cy="914400"/>
          </a:xfrm>
          <a:prstGeom prst="rect">
            <a:avLst/>
          </a:prstGeom>
          <a:solidFill>
            <a:srgbClr val="12151C"/>
          </a:solidFill>
          <a:ln w="25400">
            <a:solidFill>
              <a:srgbClr val="7EE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AA4B2"/>
                </a:solidFill>
                <a:latin typeface="Segoe UI"/>
              </a:rPr>
              <a:t>Returned directly from statute</a:t>
            </a:r>
          </a:p>
          <a:p>
            <a:pPr algn="ctr"/>
            <a:r>
              <a:rPr sz="2400" b="1" i="0">
                <a:solidFill>
                  <a:srgbClr val="7EE0C3"/>
                </a:solidFill>
                <a:latin typeface="Segoe UI"/>
              </a:rPr>
              <a:t>$1,500 – $10,000 civil penalty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9AA4B2"/>
                </a:solidFill>
                <a:latin typeface="Segoe UI"/>
              </a:rPr>
              <a:t>Municipal Law Skill for Autonomous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Segoe UI"/>
              </a:rP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8EAED"/>
                </a:solidFill>
                <a:latin typeface="Segoe UI"/>
              </a:rP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011680" cy="38100"/>
          </a:xfrm>
          <a:prstGeom prst="rect">
            <a:avLst/>
          </a:prstGeom>
          <a:solidFill>
            <a:srgbClr val="5B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377440"/>
            <a:ext cx="1210404" cy="1005840"/>
          </a:xfrm>
          <a:prstGeom prst="rect">
            <a:avLst/>
          </a:prstGeom>
          <a:solidFill>
            <a:srgbClr val="12151C"/>
          </a:solidFill>
          <a:ln w="15875">
            <a:solidFill>
              <a:srgbClr val="5B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E8EAED"/>
                </a:solidFill>
                <a:latin typeface="Segoe UI"/>
              </a:rPr>
              <a:t>Official NYC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4804" y="2606040"/>
            <a:ext cx="26569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5B9DFF"/>
                </a:solidFill>
                <a:latin typeface="Segoe UI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390502" y="2377440"/>
            <a:ext cx="1210404" cy="1005840"/>
          </a:xfrm>
          <a:prstGeom prst="rect">
            <a:avLst/>
          </a:prstGeom>
          <a:solidFill>
            <a:srgbClr val="12151C"/>
          </a:solidFill>
          <a:ln w="15875">
            <a:solidFill>
              <a:srgbClr val="26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E8EAED"/>
                </a:solidFill>
                <a:latin typeface="Segoe UI"/>
              </a:rPr>
              <a:t>Crawler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906" y="2606040"/>
            <a:ext cx="26569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5B9DFF"/>
                </a:solidFill>
                <a:latin typeface="Segoe U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866604" y="2377440"/>
            <a:ext cx="1210404" cy="1005840"/>
          </a:xfrm>
          <a:prstGeom prst="rect">
            <a:avLst/>
          </a:prstGeom>
          <a:solidFill>
            <a:srgbClr val="12151C"/>
          </a:solidFill>
          <a:ln w="15875">
            <a:solidFill>
              <a:srgbClr val="26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E8EAED"/>
                </a:solidFill>
                <a:latin typeface="Segoe UI"/>
              </a:rPr>
              <a:t>Normalization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7008" y="2606040"/>
            <a:ext cx="26569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5B9DFF"/>
                </a:solidFill>
                <a:latin typeface="Segoe U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42706" y="2377440"/>
            <a:ext cx="1210404" cy="1005840"/>
          </a:xfrm>
          <a:prstGeom prst="rect">
            <a:avLst/>
          </a:prstGeom>
          <a:solidFill>
            <a:srgbClr val="12151C"/>
          </a:solidFill>
          <a:ln w="15875">
            <a:solidFill>
              <a:srgbClr val="26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E8EAED"/>
                </a:solidFill>
                <a:latin typeface="Segoe UI"/>
              </a:rPr>
              <a:t>MongoDB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110" y="2606040"/>
            <a:ext cx="26569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5B9DFF"/>
                </a:solidFill>
                <a:latin typeface="Segoe U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18808" y="2377440"/>
            <a:ext cx="1210404" cy="1005840"/>
          </a:xfrm>
          <a:prstGeom prst="rect">
            <a:avLst/>
          </a:prstGeom>
          <a:solidFill>
            <a:srgbClr val="12151C"/>
          </a:solidFill>
          <a:ln w="15875">
            <a:solidFill>
              <a:srgbClr val="26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E8EAED"/>
                </a:solidFill>
                <a:latin typeface="Segoe UI"/>
              </a:rPr>
              <a:t>FastAPI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9212" y="2606040"/>
            <a:ext cx="26569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5B9DFF"/>
                </a:solidFill>
                <a:latin typeface="Segoe U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4910" y="2377440"/>
            <a:ext cx="1210404" cy="1005840"/>
          </a:xfrm>
          <a:prstGeom prst="rect">
            <a:avLst/>
          </a:prstGeom>
          <a:solidFill>
            <a:srgbClr val="12151C"/>
          </a:solidFill>
          <a:ln w="15875">
            <a:solidFill>
              <a:srgbClr val="26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E8EAED"/>
                </a:solidFill>
                <a:latin typeface="Segoe UI"/>
              </a:rPr>
              <a:t>Autonomous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5314" y="2606040"/>
            <a:ext cx="26569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5B9DFF"/>
                </a:solidFill>
                <a:latin typeface="Segoe U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71012" y="2377440"/>
            <a:ext cx="1210404" cy="1005840"/>
          </a:xfrm>
          <a:prstGeom prst="rect">
            <a:avLst/>
          </a:prstGeom>
          <a:solidFill>
            <a:srgbClr val="12151C"/>
          </a:solidFill>
          <a:ln w="15875">
            <a:solidFill>
              <a:srgbClr val="5B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E8EAED"/>
                </a:solidFill>
                <a:latin typeface="Segoe UI"/>
              </a:rPr>
              <a:t>Grounded 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3192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1">
                <a:solidFill>
                  <a:srgbClr val="7EE0C3"/>
                </a:solidFill>
                <a:latin typeface="Segoe UI"/>
              </a:rPr>
              <a:t>The service never generates legal advice — only official text and citations. The last step is why it exists.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9AA4B2"/>
                </a:solidFill>
                <a:latin typeface="Segoe UI"/>
              </a:rPr>
              <a:t>Municipal Law Skill for Autonomous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Segoe UI"/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8EAED"/>
                </a:solidFill>
                <a:latin typeface="Segoe UI"/>
              </a:rPr>
              <a:t>The complete corpus, not a sample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011680" cy="38100"/>
          </a:xfrm>
          <a:prstGeom prst="rect">
            <a:avLst/>
          </a:prstGeom>
          <a:solidFill>
            <a:srgbClr val="5B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4892040" cy="2560320"/>
          </a:xfrm>
          <a:prstGeom prst="rect">
            <a:avLst/>
          </a:prstGeom>
          <a:solidFill>
            <a:srgbClr val="12151C"/>
          </a:solidFill>
          <a:ln>
            <a:solidFill>
              <a:srgbClr val="26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600" b="1" i="0">
                <a:solidFill>
                  <a:srgbClr val="9AA4B2"/>
                </a:solidFill>
                <a:latin typeface="Segoe UI"/>
              </a:rPr>
              <a:t>Entire NYC Administrative Code</a:t>
            </a:r>
          </a:p>
          <a:p>
            <a:pPr algn="ctr">
              <a:spcBef>
                <a:spcPts val="1000"/>
              </a:spcBef>
            </a:pPr>
            <a:r>
              <a:rPr sz="3400" b="1" i="0">
                <a:solidFill>
                  <a:srgbClr val="5B9DFF"/>
                </a:solidFill>
                <a:latin typeface="Segoe UI"/>
              </a:rPr>
              <a:t>32</a:t>
            </a:r>
          </a:p>
          <a:p>
            <a:pPr algn="ctr"/>
            <a:r>
              <a:rPr sz="1400" b="0" i="0">
                <a:solidFill>
                  <a:srgbClr val="E8EAED"/>
                </a:solidFill>
                <a:latin typeface="Segoe UI"/>
              </a:rPr>
              <a:t>Titles</a:t>
            </a:r>
          </a:p>
          <a:p>
            <a:pPr algn="ctr">
              <a:spcBef>
                <a:spcPts val="1000"/>
              </a:spcBef>
            </a:pPr>
            <a:r>
              <a:rPr sz="3400" b="1" i="0">
                <a:solidFill>
                  <a:srgbClr val="5B9DFF"/>
                </a:solidFill>
                <a:latin typeface="Segoe UI"/>
              </a:rPr>
              <a:t>4,781</a:t>
            </a:r>
          </a:p>
          <a:p>
            <a:pPr algn="ctr"/>
            <a:r>
              <a:rPr sz="1400" b="0" i="0">
                <a:solidFill>
                  <a:srgbClr val="E8EAED"/>
                </a:solidFill>
                <a:latin typeface="Segoe UI"/>
              </a:rPr>
              <a:t>Sections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828800"/>
            <a:ext cx="4892040" cy="2560320"/>
          </a:xfrm>
          <a:prstGeom prst="rect">
            <a:avLst/>
          </a:prstGeom>
          <a:solidFill>
            <a:srgbClr val="12151C"/>
          </a:solidFill>
          <a:ln>
            <a:solidFill>
              <a:srgbClr val="26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600" b="1" i="0">
                <a:solidFill>
                  <a:srgbClr val="9AA4B2"/>
                </a:solidFill>
                <a:latin typeface="Segoe UI"/>
              </a:rPr>
              <a:t>Entire NYC Health Code</a:t>
            </a:r>
          </a:p>
          <a:p>
            <a:pPr algn="ctr">
              <a:spcBef>
                <a:spcPts val="1000"/>
              </a:spcBef>
            </a:pPr>
            <a:r>
              <a:rPr sz="3400" b="1" i="0">
                <a:solidFill>
                  <a:srgbClr val="5B9DFF"/>
                </a:solidFill>
                <a:latin typeface="Segoe UI"/>
              </a:rPr>
              <a:t>36</a:t>
            </a:r>
          </a:p>
          <a:p>
            <a:pPr algn="ctr"/>
            <a:r>
              <a:rPr sz="1400" b="0" i="0">
                <a:solidFill>
                  <a:srgbClr val="E8EAED"/>
                </a:solidFill>
                <a:latin typeface="Segoe UI"/>
              </a:rPr>
              <a:t>Articles</a:t>
            </a:r>
          </a:p>
          <a:p>
            <a:pPr algn="ctr">
              <a:spcBef>
                <a:spcPts val="1000"/>
              </a:spcBef>
            </a:pPr>
            <a:r>
              <a:rPr sz="3400" b="1" i="0">
                <a:solidFill>
                  <a:srgbClr val="5B9DFF"/>
                </a:solidFill>
                <a:latin typeface="Segoe UI"/>
              </a:rPr>
              <a:t>501</a:t>
            </a:r>
          </a:p>
          <a:p>
            <a:pPr algn="ctr"/>
            <a:r>
              <a:rPr sz="1400" b="0" i="0">
                <a:solidFill>
                  <a:srgbClr val="E8EAED"/>
                </a:solidFill>
                <a:latin typeface="Segoe UI"/>
              </a:rPr>
              <a:t>Sections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i="1">
                <a:solidFill>
                  <a:srgbClr val="7EE0C3"/>
                </a:solidFill>
                <a:latin typeface="Segoe UI"/>
              </a:rPr>
              <a:t>668 source documents · 10,702 searchable chunks · ≈55 MB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9AA4B2"/>
                </a:solidFill>
                <a:latin typeface="Segoe UI"/>
              </a:rPr>
              <a:t>Municipal Law Skill for Autonomous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Segoe UI"/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8EAED"/>
                </a:solidFill>
                <a:latin typeface="Segoe UI"/>
              </a:rPr>
              <a:t>Engineering: bugs found and fixed, not just claimed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011680" cy="38100"/>
          </a:xfrm>
          <a:prstGeom prst="rect">
            <a:avLst/>
          </a:prstGeom>
          <a:solidFill>
            <a:srgbClr val="5B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</a:pPr>
            <a:r>
              <a:rPr sz="2000" b="0" i="0">
                <a:solidFill>
                  <a:srgbClr val="E8EAED"/>
                </a:solidFill>
                <a:latin typeface="Segoe UI"/>
              </a:rPr>
              <a:t>▸  Naive substring search: “fine” matched inside “defined” — fixed with word-boundary matching everywhere</a:t>
            </a:r>
          </a:p>
          <a:p>
            <a:pPr>
              <a:spcAft>
                <a:spcPts val="1800"/>
              </a:spcAft>
            </a:pPr>
            <a:r>
              <a:rPr sz="2000" b="0" i="0">
                <a:solidFill>
                  <a:srgbClr val="E8EAED"/>
                </a:solidFill>
                <a:latin typeface="Segoe UI"/>
              </a:rPr>
              <a:t>▸  36 Health Code PDFs, each formatted slightly differently — parser normalized and verified section-by-section against real text</a:t>
            </a:r>
          </a:p>
          <a:p>
            <a:pPr>
              <a:spcAft>
                <a:spcPts val="1800"/>
              </a:spcAft>
            </a:pPr>
            <a:r>
              <a:rPr sz="2000" b="0" i="0">
                <a:solidFill>
                  <a:srgbClr val="E8EAED"/>
                </a:solidFill>
                <a:latin typeface="Segoe UI"/>
              </a:rPr>
              <a:t>▸  The “6 hens” myth — a regression test locks in the true statute text, forever</a:t>
            </a:r>
          </a:p>
          <a:p>
            <a:pPr>
              <a:spcAft>
                <a:spcPts val="1800"/>
              </a:spcAft>
            </a:pPr>
            <a:r>
              <a:rPr sz="2000" b="0" i="0">
                <a:solidFill>
                  <a:srgbClr val="E8EAED"/>
                </a:solidFill>
                <a:latin typeface="Segoe UI"/>
              </a:rPr>
              <a:t>▸  Hidden ingestion size limit silently truncated requests — found and fixed before it silently dropped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9AA4B2"/>
                </a:solidFill>
                <a:latin typeface="Segoe UI"/>
              </a:rPr>
              <a:t>Municipal Law Skill for Autonomous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Segoe UI"/>
              </a:rP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8EAED"/>
                </a:solidFill>
                <a:latin typeface="Segoe UI"/>
              </a:rPr>
              <a:t>Why not just ask an LLM?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011680" cy="38100"/>
          </a:xfrm>
          <a:prstGeom prst="rect">
            <a:avLst/>
          </a:prstGeom>
          <a:solidFill>
            <a:srgbClr val="5B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4937760" cy="3291840"/>
          </a:xfrm>
          <a:prstGeom prst="rect">
            <a:avLst/>
          </a:prstGeom>
          <a:solidFill>
            <a:srgbClr val="12151C"/>
          </a:solidFill>
          <a:ln>
            <a:solidFill>
              <a:srgbClr val="26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/>
            <a:r>
              <a:rPr sz="1700" b="1" i="0">
                <a:solidFill>
                  <a:srgbClr val="9AA4B2"/>
                </a:solidFill>
                <a:latin typeface="Segoe UI"/>
              </a:rPr>
              <a:t>LLM memory</a:t>
            </a:r>
          </a:p>
          <a:p>
            <a:pPr>
              <a:spcBef>
                <a:spcPts val="1200"/>
              </a:spcBef>
            </a:pPr>
            <a:r>
              <a:rPr sz="1600" b="0" i="0">
                <a:solidFill>
                  <a:srgbClr val="E8EAED"/>
                </a:solidFill>
                <a:latin typeface="Segoe UI"/>
              </a:rPr>
              <a:t>✗  May hallucinate</a:t>
            </a:r>
          </a:p>
          <a:p>
            <a:pPr>
              <a:spcBef>
                <a:spcPts val="1200"/>
              </a:spcBef>
            </a:pPr>
            <a:r>
              <a:rPr sz="1600" b="0" i="0">
                <a:solidFill>
                  <a:srgbClr val="E8EAED"/>
                </a:solidFill>
                <a:latin typeface="Segoe UI"/>
              </a:rPr>
              <a:t>✗  May be outdated</a:t>
            </a:r>
          </a:p>
          <a:p>
            <a:pPr>
              <a:spcBef>
                <a:spcPts val="1200"/>
              </a:spcBef>
            </a:pPr>
            <a:r>
              <a:rPr sz="1600" b="0" i="0">
                <a:solidFill>
                  <a:srgbClr val="E8EAED"/>
                </a:solidFill>
                <a:latin typeface="Segoe UI"/>
              </a:rPr>
              <a:t>✗  No provenance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737360"/>
            <a:ext cx="4937760" cy="3291840"/>
          </a:xfrm>
          <a:prstGeom prst="rect">
            <a:avLst/>
          </a:prstGeom>
          <a:solidFill>
            <a:srgbClr val="12151C"/>
          </a:solidFill>
          <a:ln>
            <a:solidFill>
              <a:srgbClr val="7EE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/>
            <a:r>
              <a:rPr sz="1700" b="1" i="0">
                <a:solidFill>
                  <a:srgbClr val="7EE0C3"/>
                </a:solidFill>
                <a:latin typeface="Segoe UI"/>
              </a:rPr>
              <a:t>Municipal Law Skill</a:t>
            </a:r>
          </a:p>
          <a:p>
            <a:pPr>
              <a:spcBef>
                <a:spcPts val="1200"/>
              </a:spcBef>
            </a:pPr>
            <a:r>
              <a:rPr sz="1600" b="0" i="0">
                <a:solidFill>
                  <a:srgbClr val="E8EAED"/>
                </a:solidFill>
                <a:latin typeface="Segoe UI"/>
              </a:rPr>
              <a:t>✓  Official source</a:t>
            </a:r>
          </a:p>
          <a:p>
            <a:pPr>
              <a:spcBef>
                <a:spcPts val="1200"/>
              </a:spcBef>
            </a:pPr>
            <a:r>
              <a:rPr sz="1600" b="0" i="0">
                <a:solidFill>
                  <a:srgbClr val="E8EAED"/>
                </a:solidFill>
                <a:latin typeface="Segoe UI"/>
              </a:rPr>
              <a:t>✓  Deterministic</a:t>
            </a:r>
          </a:p>
          <a:p>
            <a:pPr>
              <a:spcBef>
                <a:spcPts val="1200"/>
              </a:spcBef>
            </a:pPr>
            <a:r>
              <a:rPr sz="1600" b="0" i="0">
                <a:solidFill>
                  <a:srgbClr val="E8EAED"/>
                </a:solidFill>
                <a:latin typeface="Segoe UI"/>
              </a:rPr>
              <a:t>✓  Citations</a:t>
            </a:r>
          </a:p>
          <a:p>
            <a:pPr>
              <a:spcBef>
                <a:spcPts val="1200"/>
              </a:spcBef>
            </a:pPr>
            <a:r>
              <a:rPr sz="1600" b="0" i="0">
                <a:solidFill>
                  <a:srgbClr val="E8EAED"/>
                </a:solidFill>
                <a:latin typeface="Segoe UI"/>
              </a:rPr>
              <a:t>✓  Verifiable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9AA4B2"/>
                </a:solidFill>
                <a:latin typeface="Segoe UI"/>
              </a:rPr>
              <a:t>Municipal Law Skill for Autonomous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Segoe UI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8EAED"/>
                </a:solidFill>
                <a:latin typeface="Segoe UI"/>
              </a:rPr>
              <a:t>Agent-facing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011680" cy="38100"/>
          </a:xfrm>
          <a:prstGeom prst="rect">
            <a:avLst/>
          </a:prstGeom>
          <a:solidFill>
            <a:srgbClr val="5B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6217920"/>
              </a:tblGrid>
              <a:tr h="579120">
                <a:tc>
                  <a:txBody>
                    <a:bodyPr tIns="50800" bIns="50800"/>
                    <a:lstStyle/>
                    <a:p>
                      <a:r>
                        <a:rPr sz="1400" b="1" i="0">
                          <a:solidFill>
                            <a:srgbClr val="0B0D12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>
                    <a:solidFill>
                      <a:srgbClr val="5B9DFF"/>
                    </a:solidFill>
                  </a:tcPr>
                </a:tc>
                <a:tc>
                  <a:txBody>
                    <a:bodyPr tIns="50800" bIns="50800"/>
                    <a:lstStyle/>
                    <a:p>
                      <a:r>
                        <a:rPr sz="1400" b="1" i="0">
                          <a:solidFill>
                            <a:srgbClr val="0B0D12"/>
                          </a:solidFill>
                          <a:latin typeface="Segoe UI"/>
                        </a:rPr>
                        <a:t>Endpoint</a:t>
                      </a:r>
                    </a:p>
                  </a:txBody>
                  <a:tcPr>
                    <a:solidFill>
                      <a:srgbClr val="5B9DFF"/>
                    </a:solidFill>
                  </a:tcPr>
                </a:tc>
                <a:tc>
                  <a:txBody>
                    <a:bodyPr tIns="50800" bIns="50800"/>
                    <a:lstStyle/>
                    <a:p>
                      <a:r>
                        <a:rPr sz="1400" b="1" i="0">
                          <a:solidFill>
                            <a:srgbClr val="0B0D12"/>
                          </a:solidFill>
                          <a:latin typeface="Segoe UI"/>
                        </a:rPr>
                        <a:t>Returns</a:t>
                      </a:r>
                    </a:p>
                  </a:txBody>
                  <a:tcPr>
                    <a:solidFill>
                      <a:srgbClr val="5B9DFF"/>
                    </a:solidFill>
                  </a:tcPr>
                </a:tc>
              </a:tr>
              <a:tr h="579120">
                <a:tc>
                  <a:txBody>
                    <a:bodyPr wrap="square" tIns="76200" bIns="76200"/>
                    <a:lstStyle/>
                    <a:p>
                      <a:r>
                        <a:rPr sz="1300" b="1" i="0">
                          <a:solidFill>
                            <a:srgbClr val="7EE0C3"/>
                          </a:solidFill>
                          <a:latin typeface="Segoe UI"/>
                        </a:rPr>
                        <a:t>Determine legality</a:t>
                      </a:r>
                    </a:p>
                  </a:txBody>
                  <a:tcPr>
                    <a:solidFill>
                      <a:srgbClr val="12151C"/>
                    </a:solidFill>
                  </a:tcPr>
                </a:tc>
                <a:tc>
                  <a:txBody>
                    <a:bodyPr wrap="square" tIns="76200" bIns="76200"/>
                    <a:lstStyle/>
                    <a:p>
                      <a:r>
                        <a:rPr sz="1300" b="1" i="0">
                          <a:solidFill>
                            <a:srgbClr val="E8EAED"/>
                          </a:solidFill>
                          <a:latin typeface="Segoe UI"/>
                        </a:rPr>
                        <a:t>/is_action_allowed</a:t>
                      </a:r>
                    </a:p>
                  </a:txBody>
                  <a:tcPr>
                    <a:solidFill>
                      <a:srgbClr val="12151C"/>
                    </a:solidFill>
                  </a:tcPr>
                </a:tc>
                <a:tc>
                  <a:txBody>
                    <a:bodyPr wrap="square" tIns="76200" bIns="76200"/>
                    <a:lstStyle/>
                    <a:p>
                      <a:r>
                        <a:rPr sz="1250" b="0" i="0">
                          <a:solidFill>
                            <a:srgbClr val="9AA4B2"/>
                          </a:solidFill>
                          <a:latin typeface="Segoe UI"/>
                        </a:rPr>
                        <a:t>Allowed, conditions, citations, confidence</a:t>
                      </a:r>
                    </a:p>
                  </a:txBody>
                  <a:tcPr>
                    <a:solidFill>
                      <a:srgbClr val="12151C"/>
                    </a:solidFill>
                  </a:tcPr>
                </a:tc>
              </a:tr>
              <a:tr h="579120">
                <a:tc>
                  <a:txBody>
                    <a:bodyPr wrap="square" tIns="76200" bIns="76200"/>
                    <a:lstStyle/>
                    <a:p>
                      <a:r>
                        <a:rPr sz="1300" b="1" i="0">
                          <a:solidFill>
                            <a:srgbClr val="7EE0C3"/>
                          </a:solidFill>
                          <a:latin typeface="Segoe UI"/>
                        </a:rPr>
                        <a:t>Search law</a:t>
                      </a:r>
                    </a:p>
                  </a:txBody>
                  <a:tcPr>
                    <a:solidFill>
                      <a:srgbClr val="0B0D12"/>
                    </a:solidFill>
                  </a:tcPr>
                </a:tc>
                <a:tc>
                  <a:txBody>
                    <a:bodyPr wrap="square" tIns="76200" bIns="76200"/>
                    <a:lstStyle/>
                    <a:p>
                      <a:r>
                        <a:rPr sz="1300" b="1" i="0">
                          <a:solidFill>
                            <a:srgbClr val="E8EAED"/>
                          </a:solidFill>
                          <a:latin typeface="Segoe UI"/>
                        </a:rPr>
                        <a:t>/search</a:t>
                      </a:r>
                    </a:p>
                  </a:txBody>
                  <a:tcPr>
                    <a:solidFill>
                      <a:srgbClr val="0B0D12"/>
                    </a:solidFill>
                  </a:tcPr>
                </a:tc>
                <a:tc>
                  <a:txBody>
                    <a:bodyPr wrap="square" tIns="76200" bIns="76200"/>
                    <a:lstStyle/>
                    <a:p>
                      <a:r>
                        <a:rPr sz="1250" b="0" i="0">
                          <a:solidFill>
                            <a:srgbClr val="9AA4B2"/>
                          </a:solidFill>
                          <a:latin typeface="Segoe UI"/>
                        </a:rPr>
                        <a:t>Ranked legal evidence, filterable by source</a:t>
                      </a:r>
                    </a:p>
                  </a:txBody>
                  <a:tcPr>
                    <a:solidFill>
                      <a:srgbClr val="0B0D12"/>
                    </a:solidFill>
                  </a:tcPr>
                </a:tc>
              </a:tr>
              <a:tr h="579120">
                <a:tc>
                  <a:txBody>
                    <a:bodyPr wrap="square" tIns="76200" bIns="76200"/>
                    <a:lstStyle/>
                    <a:p>
                      <a:r>
                        <a:rPr sz="1300" b="1" i="0">
                          <a:solidFill>
                            <a:srgbClr val="7EE0C3"/>
                          </a:solidFill>
                          <a:latin typeface="Segoe UI"/>
                        </a:rPr>
                        <a:t>Retrieve statute</a:t>
                      </a:r>
                    </a:p>
                  </a:txBody>
                  <a:tcPr>
                    <a:solidFill>
                      <a:srgbClr val="12151C"/>
                    </a:solidFill>
                  </a:tcPr>
                </a:tc>
                <a:tc>
                  <a:txBody>
                    <a:bodyPr wrap="square" tIns="76200" bIns="76200"/>
                    <a:lstStyle/>
                    <a:p>
                      <a:r>
                        <a:rPr sz="1300" b="1" i="0">
                          <a:solidFill>
                            <a:srgbClr val="E8EAED"/>
                          </a:solidFill>
                          <a:latin typeface="Segoe UI"/>
                        </a:rPr>
                        <a:t>/sections/{id}</a:t>
                      </a:r>
                    </a:p>
                  </a:txBody>
                  <a:tcPr>
                    <a:solidFill>
                      <a:srgbClr val="12151C"/>
                    </a:solidFill>
                  </a:tcPr>
                </a:tc>
                <a:tc>
                  <a:txBody>
                    <a:bodyPr wrap="square" tIns="76200" bIns="76200"/>
                    <a:lstStyle/>
                    <a:p>
                      <a:r>
                        <a:rPr sz="1250" b="0" i="0">
                          <a:solidFill>
                            <a:srgbClr val="9AA4B2"/>
                          </a:solidFill>
                          <a:latin typeface="Segoe UI"/>
                        </a:rPr>
                        <a:t>Official, untruncated text</a:t>
                      </a:r>
                    </a:p>
                  </a:txBody>
                  <a:tcPr>
                    <a:solidFill>
                      <a:srgbClr val="12151C"/>
                    </a:solidFill>
                  </a:tcPr>
                </a:tc>
              </a:tr>
              <a:tr h="579120">
                <a:tc>
                  <a:txBody>
                    <a:bodyPr wrap="square" tIns="76200" bIns="76200"/>
                    <a:lstStyle/>
                    <a:p>
                      <a:r>
                        <a:rPr sz="1300" b="1" i="0">
                          <a:solidFill>
                            <a:srgbClr val="7EE0C3"/>
                          </a:solidFill>
                          <a:latin typeface="Segoe UI"/>
                        </a:rPr>
                        <a:t>Find penalties</a:t>
                      </a:r>
                    </a:p>
                  </a:txBody>
                  <a:tcPr>
                    <a:solidFill>
                      <a:srgbClr val="0B0D12"/>
                    </a:solidFill>
                  </a:tcPr>
                </a:tc>
                <a:tc>
                  <a:txBody>
                    <a:bodyPr wrap="square" tIns="76200" bIns="76200"/>
                    <a:lstStyle/>
                    <a:p>
                      <a:r>
                        <a:rPr sz="1300" b="1" i="0">
                          <a:solidFill>
                            <a:srgbClr val="E8EAED"/>
                          </a:solidFill>
                          <a:latin typeface="Segoe UI"/>
                        </a:rPr>
                        <a:t>/penalties</a:t>
                      </a:r>
                    </a:p>
                  </a:txBody>
                  <a:tcPr>
                    <a:solidFill>
                      <a:srgbClr val="0B0D12"/>
                    </a:solidFill>
                  </a:tcPr>
                </a:tc>
                <a:tc>
                  <a:txBody>
                    <a:bodyPr wrap="square" tIns="76200" bIns="76200"/>
                    <a:lstStyle/>
                    <a:p>
                      <a:r>
                        <a:rPr sz="1250" b="0" i="0">
                          <a:solidFill>
                            <a:srgbClr val="9AA4B2"/>
                          </a:solidFill>
                          <a:latin typeface="Segoe UI"/>
                        </a:rPr>
                        <a:t>Enforcement provisions</a:t>
                      </a:r>
                    </a:p>
                  </a:txBody>
                  <a:tcPr>
                    <a:solidFill>
                      <a:srgbClr val="0B0D12"/>
                    </a:solidFill>
                  </a:tcPr>
                </a:tc>
              </a:tr>
              <a:tr h="579120">
                <a:tc>
                  <a:txBody>
                    <a:bodyPr wrap="square" tIns="76200" bIns="76200"/>
                    <a:lstStyle/>
                    <a:p>
                      <a:r>
                        <a:rPr sz="1300" b="1" i="0">
                          <a:solidFill>
                            <a:srgbClr val="7EE0C3"/>
                          </a:solidFill>
                          <a:latin typeface="Segoe UI"/>
                        </a:rPr>
                        <a:t>Find permits</a:t>
                      </a:r>
                    </a:p>
                  </a:txBody>
                  <a:tcPr>
                    <a:solidFill>
                      <a:srgbClr val="12151C"/>
                    </a:solidFill>
                  </a:tcPr>
                </a:tc>
                <a:tc>
                  <a:txBody>
                    <a:bodyPr wrap="square" tIns="76200" bIns="76200"/>
                    <a:lstStyle/>
                    <a:p>
                      <a:r>
                        <a:rPr sz="1300" b="1" i="0">
                          <a:solidFill>
                            <a:srgbClr val="E8EAED"/>
                          </a:solidFill>
                          <a:latin typeface="Segoe UI"/>
                        </a:rPr>
                        <a:t>/permits</a:t>
                      </a:r>
                    </a:p>
                  </a:txBody>
                  <a:tcPr>
                    <a:solidFill>
                      <a:srgbClr val="12151C"/>
                    </a:solidFill>
                  </a:tcPr>
                </a:tc>
                <a:tc>
                  <a:txBody>
                    <a:bodyPr wrap="square" tIns="76200" bIns="76200"/>
                    <a:lstStyle/>
                    <a:p>
                      <a:r>
                        <a:rPr sz="1250" b="0" i="0">
                          <a:solidFill>
                            <a:srgbClr val="9AA4B2"/>
                          </a:solidFill>
                          <a:latin typeface="Segoe UI"/>
                        </a:rPr>
                        <a:t>Permit/license requirements</a:t>
                      </a:r>
                    </a:p>
                  </a:txBody>
                  <a:tcPr>
                    <a:solidFill>
                      <a:srgbClr val="12151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949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1">
                <a:solidFill>
                  <a:srgbClr val="9AA4B2"/>
                </a:solidFill>
                <a:latin typeface="Segoe UI"/>
              </a:rPr>
              <a:t>Also available, kept separate from the agent-facing surface above: /health, /version, /pubkey, /ingest — operational only, not part of the reasoning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9AA4B2"/>
                </a:solidFill>
                <a:latin typeface="Segoe UI"/>
              </a:rPr>
              <a:t>Municipal Law Skill for Autonomous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Segoe UI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8EAED"/>
                </a:solidFill>
                <a:latin typeface="Segoe UI"/>
              </a:rPr>
              <a:t>Trust &amp;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011680" cy="38100"/>
          </a:xfrm>
          <a:prstGeom prst="rect">
            <a:avLst/>
          </a:prstGeom>
          <a:solidFill>
            <a:srgbClr val="5B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377440"/>
            <a:ext cx="2118207" cy="1005840"/>
          </a:xfrm>
          <a:prstGeom prst="rect">
            <a:avLst/>
          </a:prstGeom>
          <a:solidFill>
            <a:srgbClr val="12151C"/>
          </a:solidFill>
          <a:ln w="15875">
            <a:solidFill>
              <a:srgbClr val="5B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E8EAED"/>
                </a:solidFill>
                <a:latin typeface="Segoe UI"/>
              </a:rPr>
              <a:t>Signed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32607" y="2606040"/>
            <a:ext cx="46497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5B9DFF"/>
                </a:solidFill>
                <a:latin typeface="Segoe UI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3497579" y="2377440"/>
            <a:ext cx="2118207" cy="1005840"/>
          </a:xfrm>
          <a:prstGeom prst="rect">
            <a:avLst/>
          </a:prstGeom>
          <a:solidFill>
            <a:srgbClr val="12151C"/>
          </a:solidFill>
          <a:ln w="15875">
            <a:solidFill>
              <a:srgbClr val="26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E8EAED"/>
                </a:solidFill>
                <a:latin typeface="Segoe UI"/>
              </a:rPr>
              <a:t>Verifiable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15786" y="2606040"/>
            <a:ext cx="46497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5B9DFF"/>
                </a:solidFill>
                <a:latin typeface="Segoe U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58" y="2377440"/>
            <a:ext cx="2118207" cy="1005840"/>
          </a:xfrm>
          <a:prstGeom prst="rect">
            <a:avLst/>
          </a:prstGeom>
          <a:solidFill>
            <a:srgbClr val="12151C"/>
          </a:solidFill>
          <a:ln w="15875">
            <a:solidFill>
              <a:srgbClr val="26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E8EAED"/>
                </a:solidFill>
                <a:latin typeface="Segoe UI"/>
              </a:rPr>
              <a:t>Deterministic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8965" y="2606040"/>
            <a:ext cx="46497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5B9DFF"/>
                </a:solidFill>
                <a:latin typeface="Segoe U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63937" y="2377440"/>
            <a:ext cx="2118207" cy="1005840"/>
          </a:xfrm>
          <a:prstGeom prst="rect">
            <a:avLst/>
          </a:prstGeom>
          <a:solidFill>
            <a:srgbClr val="12151C"/>
          </a:solidFill>
          <a:ln w="15875">
            <a:solidFill>
              <a:srgbClr val="5B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E8EAED"/>
                </a:solidFill>
                <a:latin typeface="Segoe UI"/>
              </a:rPr>
              <a:t>Replayable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1">
                <a:solidFill>
                  <a:srgbClr val="7EE0C3"/>
                </a:solidFill>
                <a:latin typeface="Segoe UI"/>
              </a:rPr>
              <a:t>Every /is_action_allowed and /search response is Ed25519-signed — /pubkey lets any downstream agent verify offline that this service, not a relay or a cache, produced a citation. /version reports corpus freshness, so callers know exactly how stale the law 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9AA4B2"/>
                </a:solidFill>
                <a:latin typeface="Segoe UI"/>
              </a:rPr>
              <a:t>Municipal Law Skill for Autonomous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Segoe UI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8EAED"/>
                </a:solidFill>
                <a:latin typeface="Segoe UI"/>
              </a:rPr>
              <a:t>Why NANDA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011680" cy="38100"/>
          </a:xfrm>
          <a:prstGeom prst="rect">
            <a:avLst/>
          </a:prstGeom>
          <a:solidFill>
            <a:srgbClr val="5B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10332720" cy="1463040"/>
          </a:xfrm>
          <a:prstGeom prst="rect">
            <a:avLst/>
          </a:prstGeom>
          <a:solidFill>
            <a:srgbClr val="12151C"/>
          </a:solidFill>
          <a:ln w="19050">
            <a:solidFill>
              <a:srgbClr val="5B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2000" b="1" i="1">
                <a:solidFill>
                  <a:srgbClr val="7EE0C3"/>
                </a:solidFill>
                <a:latin typeface="Segoe UI"/>
              </a:rPr>
              <a:t>“This transforms municipal law from static documents into a reusable capability that any NANDA agent can invoke.”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800" b="0" i="0">
                <a:solidFill>
                  <a:srgbClr val="E8EAED"/>
                </a:solidFill>
                <a:latin typeface="Segoe UI"/>
              </a:rPr>
              <a:t>▸  Composable by design — the last hop in a chain started by another skill (a 311 complaint, a permit application, a code-enforcement lead)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E8EAED"/>
                </a:solidFill>
                <a:latin typeface="Segoe UI"/>
              </a:rPr>
              <a:t>▸  Any agent that can call an HTTP endpoint can invoke it, per SKILL.md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9AA4B2"/>
                </a:solidFill>
                <a:latin typeface="Segoe UI"/>
              </a:rPr>
              <a:t>Municipal Law Skill for Autonomous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Segoe UI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E8EAED"/>
                </a:solidFill>
                <a:latin typeface="Segoe UI"/>
              </a:rPr>
              <a:t>Agent-ready. Deterministic. Citation-backed.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5039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0" i="0">
                <a:solidFill>
                  <a:srgbClr val="7EE0C3"/>
                </a:solidFill>
                <a:latin typeface="Segoe UI"/>
              </a:rPr>
              <a:t>Complete NYC corpus</a:t>
            </a:r>
          </a:p>
          <a:p>
            <a:pPr algn="ctr">
              <a:spcAft>
                <a:spcPts val="1000"/>
              </a:spcAft>
            </a:pPr>
            <a:r>
              <a:rPr sz="1800" b="0" i="0">
                <a:solidFill>
                  <a:srgbClr val="7EE0C3"/>
                </a:solidFill>
                <a:latin typeface="Segoe UI"/>
              </a:rPr>
              <a:t>No hallucinations</a:t>
            </a:r>
          </a:p>
          <a:p>
            <a:pPr algn="ctr">
              <a:spcAft>
                <a:spcPts val="1000"/>
              </a:spcAft>
            </a:pPr>
            <a:r>
              <a:rPr sz="1800" b="0" i="0">
                <a:solidFill>
                  <a:srgbClr val="7EE0C3"/>
                </a:solidFill>
                <a:latin typeface="Segoe UI"/>
              </a:rPr>
              <a:t>Live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5B9DFF"/>
                </a:solidFill>
                <a:latin typeface="Segoe UI"/>
              </a:rPr>
              <a:t>https://nanda-municipal-laws.vercel.app</a:t>
            </a:r>
          </a:p>
          <a:p>
            <a:pPr algn="ctr"/>
            <a:r>
              <a:rPr sz="1400" b="0" i="0">
                <a:solidFill>
                  <a:srgbClr val="9AA4B2"/>
                </a:solidFill>
                <a:latin typeface="Segoe UI"/>
              </a:rPr>
              <a:t>https://github.com/swamx/nanda-municipal-laws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9AA4B2"/>
                </a:solidFill>
                <a:latin typeface="Segoe UI"/>
              </a:rPr>
              <a:t>Municipal Law Skill for Autonomous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Segoe UI"/>
              </a:rP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