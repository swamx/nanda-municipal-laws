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 i="0">
                <a:solidFill>
                  <a:srgbClr val="E8EAED"/>
                </a:solidFill>
                <a:latin typeface="Segoe UI"/>
              </a:rPr>
              <a:t>Municipal Law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632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5B9DFF"/>
                </a:solidFill>
                <a:latin typeface="Segoe UI"/>
              </a:rPr>
              <a:t>for Autonomous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9AA4B2"/>
                </a:solidFill>
                <a:latin typeface="Segoe UI"/>
              </a:rPr>
              <a:t>An agent-ready municipal law skill providing deterministic, citation-backed legal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9AA4B2"/>
                </a:solidFill>
                <a:latin typeface="Segoe UI"/>
              </a:rPr>
              <a:t>NANDA Town · MIT Reality Hackathon 2026</a:t>
            </a:r>
          </a:p>
          <a:p>
            <a:pPr algn="ctr"/>
            <a:r>
              <a:rPr sz="1400" b="1" i="0">
                <a:solidFill>
                  <a:srgbClr val="7EE0C3"/>
                </a:solidFill>
                <a:latin typeface="Segoe UI"/>
              </a:rPr>
              <a:t>https://nanda-municipal-laws.vercel.app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AI agents hallucinate municipal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4709160" cy="1828800"/>
          </a:xfrm>
          <a:prstGeom prst="rect">
            <a:avLst/>
          </a:prstGeom>
          <a:solidFill>
            <a:srgbClr val="12151C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FF6B6B"/>
                </a:solidFill>
                <a:latin typeface="Segoe UI"/>
              </a:rPr>
              <a:t>✗</a:t>
            </a:r>
          </a:p>
          <a:p>
            <a:pPr algn="ctr"/>
            <a:r>
              <a:rPr sz="1300" b="0" i="0">
                <a:solidFill>
                  <a:srgbClr val="9AA4B2"/>
                </a:solidFill>
                <a:latin typeface="Segoe UI"/>
              </a:rPr>
              <a:t>Internet folklore</a:t>
            </a:r>
          </a:p>
          <a:p>
            <a:pPr algn="ctr"/>
            <a:r>
              <a:rPr sz="2000" b="1" i="0">
                <a:solidFill>
                  <a:srgbClr val="FF6B6B"/>
                </a:solidFill>
                <a:latin typeface="Segoe UI"/>
              </a:rPr>
              <a:t>“You may keep up to six hens.”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0680" y="1737360"/>
            <a:ext cx="54864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1737360"/>
            <a:ext cx="4709160" cy="1828800"/>
          </a:xfrm>
          <a:prstGeom prst="rect">
            <a:avLst/>
          </a:prstGeom>
          <a:solidFill>
            <a:srgbClr val="12151C"/>
          </a:solidFill>
          <a:ln w="1905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7EE0C3"/>
                </a:solidFill>
                <a:latin typeface="Segoe UI"/>
              </a:rPr>
              <a:t>✓</a:t>
            </a:r>
          </a:p>
          <a:p>
            <a:pPr algn="ctr"/>
            <a:r>
              <a:rPr sz="1300" b="0" i="0">
                <a:solidFill>
                  <a:srgbClr val="9AA4B2"/>
                </a:solidFill>
                <a:latin typeface="Segoe UI"/>
              </a:rPr>
              <a:t>NYC Health Code §161.19 (the real statute)</a:t>
            </a:r>
          </a:p>
          <a:p>
            <a:pPr algn="ctr"/>
            <a:r>
              <a:rPr sz="2000" b="1" i="0">
                <a:solidFill>
                  <a:srgbClr val="7EE0C3"/>
                </a:solidFill>
                <a:latin typeface="Segoe UI"/>
              </a:rPr>
              <a:t>No such limit exists.</a:t>
            </a:r>
          </a:p>
          <a:p>
            <a:pPr algn="ctr"/>
            <a:r>
              <a:rPr sz="1200" b="0" i="0">
                <a:solidFill>
                  <a:srgbClr val="9AA4B2"/>
                </a:solidFill>
                <a:latin typeface="Segoe UI"/>
              </a:rPr>
              <a:t>Only certain birds (roosters, ducks, geese, turkeys) are prohibited — with narrow exceptions. Nothing restricts hens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9AA4B2"/>
                </a:solidFill>
                <a:latin typeface="Segoe UI"/>
              </a:rPr>
              <a:t>Agents relying on an LLM's training data repeat exactly this kind of confident, wrong answer. Legal citations need to come from the actual code — not a model's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The capability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solidFill>
            <a:srgbClr val="12151C"/>
          </a:solidFill>
          <a:ln w="19050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800" b="1" i="1">
                <a:solidFill>
                  <a:srgbClr val="7EE0C3"/>
                </a:solidFill>
                <a:latin typeface="Segoe UI"/>
              </a:rPr>
              <a:t>“A deterministic municipal law skill that any AI agent can invoke to obtain grounded, citation-backed legal evidence from the complete NYC Administrative and Health Codes.”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9AA4B2"/>
                </a:solidFill>
                <a:latin typeface="Segoe UI"/>
              </a:rPr>
              <a:t>Traditional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493008"/>
            <a:ext cx="282427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9AA4B2"/>
                </a:solidFill>
                <a:latin typeface="Segoe UI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38676" y="3493008"/>
            <a:ext cx="6199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8639" y="3493008"/>
            <a:ext cx="282427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9AA4B2"/>
                </a:solidFill>
                <a:latin typeface="Segoe UI"/>
              </a:rPr>
              <a:t>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2915" y="3493008"/>
            <a:ext cx="6199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02878" y="3493008"/>
            <a:ext cx="282427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9AA4B2"/>
                </a:solidFill>
                <a:latin typeface="Segoe UI"/>
              </a:rPr>
              <a:t>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3308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9AA4B2"/>
                </a:solidFill>
                <a:latin typeface="Segoe UI"/>
              </a:rPr>
              <a:t>Municipal Law Skill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425696"/>
            <a:ext cx="169456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7EE0C3"/>
                </a:solidFill>
                <a:latin typeface="Segoe UI"/>
              </a:rPr>
              <a:t>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8966" y="4425696"/>
            <a:ext cx="37197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3" y="4425696"/>
            <a:ext cx="169456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7EE0C3"/>
                </a:solidFill>
                <a:latin typeface="Segoe UI"/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5509" y="4425696"/>
            <a:ext cx="37197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47486" y="4425696"/>
            <a:ext cx="169456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7EE0C3"/>
                </a:solidFill>
                <a:latin typeface="Segoe UI"/>
              </a:rPr>
              <a:t>Official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2052" y="4425696"/>
            <a:ext cx="37197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14029" y="4425696"/>
            <a:ext cx="169456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7EE0C3"/>
                </a:solidFill>
                <a:latin typeface="Segoe UI"/>
              </a:rPr>
              <a:t>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8595" y="4425696"/>
            <a:ext cx="37197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0572" y="4425696"/>
            <a:ext cx="1694566" cy="502920"/>
          </a:xfrm>
          <a:prstGeom prst="rect">
            <a:avLst/>
          </a:prstGeom>
          <a:solidFill>
            <a:srgbClr val="12151C"/>
          </a:solidFill>
          <a:ln w="127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7EE0C3"/>
                </a:solidFill>
                <a:latin typeface="Segoe UI"/>
              </a:rPr>
              <a:t>Grounded 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157216"/>
            <a:ext cx="10332720" cy="82296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0B0D12"/>
                </a:solidFill>
                <a:latin typeface="Segoe UI"/>
              </a:rPr>
              <a:t>The service never generates answers. It only returns legal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1 — A resident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1">
                <a:solidFill>
                  <a:srgbClr val="7EE0C3"/>
                </a:solidFill>
                <a:latin typeface="Segoe UI"/>
              </a:rPr>
              <a:t>“Can I keep backyard chickens?”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32607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7579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5786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8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POST /is_action_allowed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8965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3937" y="2651760"/>
            <a:ext cx="2118207" cy="1188720"/>
          </a:xfrm>
          <a:prstGeom prst="rect">
            <a:avLst/>
          </a:prstGeom>
          <a:solidFill>
            <a:srgbClr val="12151C"/>
          </a:solidFill>
          <a:ln w="254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7EE0C3"/>
                </a:solidFill>
                <a:latin typeface="Segoe UI"/>
              </a:rPr>
              <a:t>NYC Health Code §161.19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966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 i="1">
                <a:solidFill>
                  <a:srgbClr val="E8EAED"/>
                </a:solidFill>
                <a:latin typeface="Segoe UI"/>
              </a:rPr>
              <a:t>“Yes, but roosters are prohibited citywide”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2 — A food vendor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1">
                <a:solidFill>
                  <a:srgbClr val="7EE0C3"/>
                </a:solidFill>
                <a:latin typeface="Segoe UI"/>
              </a:rPr>
              <a:t>“What permit do I need to operate a mobile food cart?”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Food vendor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32607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7579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5786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8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POST /permits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8965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3937" y="2651760"/>
            <a:ext cx="2118207" cy="1188720"/>
          </a:xfrm>
          <a:prstGeom prst="rect">
            <a:avLst/>
          </a:prstGeom>
          <a:solidFill>
            <a:srgbClr val="12151C"/>
          </a:solidFill>
          <a:ln w="254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7EE0C3"/>
                </a:solidFill>
                <a:latin typeface="Segoe UI"/>
              </a:rPr>
              <a:t>§89.11 Applications for permits and licenses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966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 i="1">
                <a:solidFill>
                  <a:srgbClr val="E8EAED"/>
                </a:solidFill>
                <a:latin typeface="Segoe UI"/>
              </a:rPr>
              <a:t>“You need a vending permit/license under §89.11 — fees are set by §17-308”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Story 3 — A building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1">
                <a:solidFill>
                  <a:srgbClr val="7EE0C3"/>
                </a:solidFill>
                <a:latin typeface="Segoe UI"/>
              </a:rPr>
              <a:t>“What's the penalty if I dump construction debris illegally?”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Building owner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32607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7579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5786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8" y="2651760"/>
            <a:ext cx="2118207" cy="118872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POST /penalties → GET /sections/16-119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8965" y="2651760"/>
            <a:ext cx="464972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3937" y="2651760"/>
            <a:ext cx="2118207" cy="1188720"/>
          </a:xfrm>
          <a:prstGeom prst="rect">
            <a:avLst/>
          </a:prstGeom>
          <a:solidFill>
            <a:srgbClr val="12151C"/>
          </a:solidFill>
          <a:ln w="25400"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7EE0C3"/>
                </a:solidFill>
                <a:latin typeface="Segoe UI"/>
              </a:rPr>
              <a:t>$1,500 – $10,000 civil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9669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0" i="1">
                <a:solidFill>
                  <a:srgbClr val="E8EAED"/>
                </a:solidFill>
                <a:latin typeface="Segoe UI"/>
              </a:rPr>
              <a:t>Real dollar figures, straight from the statute — not a vague “consult a lawyer.”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Official NYC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4804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0502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Crawler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906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866604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Normalization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7008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2706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MongoDB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110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8808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FastAPI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9212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94910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Autonomous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5314" y="2606040"/>
            <a:ext cx="2656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71012" y="2377440"/>
            <a:ext cx="1210404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Grounded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1">
                <a:solidFill>
                  <a:srgbClr val="7EE0C3"/>
                </a:solidFill>
                <a:latin typeface="Segoe UI"/>
              </a:rPr>
              <a:t>The service never generates legal advice — only official text and citations. The last step is why it exists.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The complete corpus, not a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4892040" cy="25603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 i="0">
                <a:solidFill>
                  <a:srgbClr val="9AA4B2"/>
                </a:solidFill>
                <a:latin typeface="Segoe UI"/>
              </a:rPr>
              <a:t>Entire NYC Administrative Code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32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Titles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4,781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Sections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1828800"/>
            <a:ext cx="4892040" cy="256032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600" b="1" i="0">
                <a:solidFill>
                  <a:srgbClr val="9AA4B2"/>
                </a:solidFill>
                <a:latin typeface="Segoe UI"/>
              </a:rPr>
              <a:t>Entire NYC Health Code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36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Articles</a:t>
            </a:r>
          </a:p>
          <a:p>
            <a:pPr algn="ctr">
              <a:spcBef>
                <a:spcPts val="1000"/>
              </a:spcBef>
            </a:pPr>
            <a:r>
              <a:rPr sz="3400" b="1" i="0">
                <a:solidFill>
                  <a:srgbClr val="5B9DFF"/>
                </a:solidFill>
                <a:latin typeface="Segoe UI"/>
              </a:rPr>
              <a:t>501</a:t>
            </a:r>
          </a:p>
          <a:p>
            <a:pPr algn="ctr"/>
            <a:r>
              <a:rPr sz="1400" b="0" i="0">
                <a:solidFill>
                  <a:srgbClr val="E8EAED"/>
                </a:solidFill>
                <a:latin typeface="Segoe U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i="1">
                <a:solidFill>
                  <a:srgbClr val="7EE0C3"/>
                </a:solidFill>
                <a:latin typeface="Segoe UI"/>
              </a:rPr>
              <a:t>668 source documents · 10,702 searchable chunks · ≈55 MB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E8EAED"/>
                </a:solidFill>
                <a:latin typeface="Segoe UI"/>
              </a:rPr>
              <a:t>Not a curated demo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Production issues discovered using live municipal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Naive substring search: “fine” matched inside “defined” — fixed with word-boundary matching everywhere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36 Health Code PDFs, each formatted slightly differently — parser normalized and verified section-by-section against real text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The “6 hens” myth — a regression test locks in the true statute text, forever</a:t>
            </a:r>
          </a:p>
          <a:p>
            <a:pPr>
              <a:spcAft>
                <a:spcPts val="1800"/>
              </a:spcAft>
            </a:pPr>
            <a:r>
              <a:rPr sz="2000" b="0" i="0">
                <a:solidFill>
                  <a:srgbClr val="E8EAED"/>
                </a:solidFill>
                <a:latin typeface="Segoe UI"/>
              </a:rPr>
              <a:t>▸  Hidden ingestion size limit silently truncated requests — found and fixed before it silently dropped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Why not just ask an LLM?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37360"/>
            <a:ext cx="4937760" cy="3291840"/>
          </a:xfrm>
          <a:prstGeom prst="rect">
            <a:avLst/>
          </a:prstGeom>
          <a:solidFill>
            <a:srgbClr val="12151C"/>
          </a:solidFill>
          <a:ln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700" b="1" i="0">
                <a:solidFill>
                  <a:srgbClr val="9AA4B2"/>
                </a:solidFill>
                <a:latin typeface="Segoe UI"/>
              </a:rPr>
              <a:t>LLM memory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✗  May be incomplete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✗  May be outdated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✗  Cannot prove provenance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4937760" cy="3291840"/>
          </a:xfrm>
          <a:prstGeom prst="rect">
            <a:avLst/>
          </a:prstGeom>
          <a:solidFill>
            <a:srgbClr val="12151C"/>
          </a:solidFill>
          <a:ln>
            <a:solidFill>
              <a:srgbClr val="7EE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700" b="1" i="0">
                <a:solidFill>
                  <a:srgbClr val="7EE0C3"/>
                </a:solidFill>
                <a:latin typeface="Segoe UI"/>
              </a:rPr>
              <a:t>Municipal Law Skill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✓  Official source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✓  Deterministic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✓  Citations</a:t>
            </a:r>
          </a:p>
          <a:p>
            <a:pPr>
              <a:spcBef>
                <a:spcPts val="1200"/>
              </a:spcBef>
            </a:pPr>
            <a:r>
              <a:rPr sz="1600" b="0" i="0">
                <a:solidFill>
                  <a:srgbClr val="E8EAED"/>
                </a:solidFill>
                <a:latin typeface="Segoe UI"/>
              </a:rPr>
              <a:t>✓  Verifiable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Agent-facing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6217920"/>
              </a:tblGrid>
              <a:tr h="579120"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Endpoint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  <a:tc>
                  <a:txBody>
                    <a:bodyPr tIns="50800" bIns="50800"/>
                    <a:lstStyle/>
                    <a:p>
                      <a:r>
                        <a:rPr sz="1400" b="1" i="0">
                          <a:solidFill>
                            <a:srgbClr val="0B0D12"/>
                          </a:solidFill>
                          <a:latin typeface="Segoe UI"/>
                        </a:rPr>
                        <a:t>Returns</a:t>
                      </a:r>
                    </a:p>
                  </a:txBody>
                  <a:tcPr>
                    <a:solidFill>
                      <a:srgbClr val="5B9DFF"/>
                    </a:solidFill>
                  </a:tcPr>
                </a:tc>
              </a:tr>
              <a:tr h="5791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Determine legality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/is_action_allowed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Allowed, conditions, citations, confidence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5791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Search law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/search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Ranked legal evidence, filterable by source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  <a:tr h="5791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Retrieve statute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/sections/{id}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Official, untruncated text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  <a:tr h="5791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Find penalties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/penalties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Enforcement provisions</a:t>
                      </a:r>
                    </a:p>
                  </a:txBody>
                  <a:tcPr>
                    <a:solidFill>
                      <a:srgbClr val="0B0D12"/>
                    </a:solidFill>
                  </a:tcPr>
                </a:tc>
              </a:tr>
              <a:tr h="579120"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7EE0C3"/>
                          </a:solidFill>
                          <a:latin typeface="Segoe UI"/>
                        </a:rPr>
                        <a:t>Find permits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300" b="1" i="0">
                          <a:solidFill>
                            <a:srgbClr val="E8EAED"/>
                          </a:solidFill>
                          <a:latin typeface="Segoe UI"/>
                        </a:rPr>
                        <a:t>/permits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  <a:tc>
                  <a:txBody>
                    <a:bodyPr wrap="square" tIns="76200" bIns="76200"/>
                    <a:lstStyle/>
                    <a:p>
                      <a:r>
                        <a:rPr sz="1250" b="0" i="0">
                          <a:solidFill>
                            <a:srgbClr val="9AA4B2"/>
                          </a:solidFill>
                          <a:latin typeface="Segoe UI"/>
                        </a:rPr>
                        <a:t>Permit/license requirements</a:t>
                      </a:r>
                    </a:p>
                  </a:txBody>
                  <a:tcPr>
                    <a:solidFill>
                      <a:srgbClr val="12151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1">
                <a:solidFill>
                  <a:srgbClr val="9AA4B2"/>
                </a:solidFill>
                <a:latin typeface="Segoe UI"/>
              </a:rPr>
              <a:t>Also available, kept separate from the agent-facing surface above: /health, /version, /pubkey, /ingest — operational only, not part of the reasoning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Trust &amp;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7EE0C3"/>
                </a:solidFill>
                <a:latin typeface="Segoe UI"/>
              </a:rPr>
              <a:t>Every response is cryptographically signed (Ed25519).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2118207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32607" y="2880360"/>
            <a:ext cx="46497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7579" y="2651760"/>
            <a:ext cx="2118207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Verifiable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5786" y="2880360"/>
            <a:ext cx="46497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58" y="2651760"/>
            <a:ext cx="2118207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262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E8EAED"/>
                </a:solidFill>
                <a:latin typeface="Segoe UI"/>
              </a:rPr>
              <a:t>Deterministic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8965" y="2880360"/>
            <a:ext cx="46497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5B9DFF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63937" y="2651760"/>
            <a:ext cx="2118207" cy="1005840"/>
          </a:xfrm>
          <a:prstGeom prst="rect">
            <a:avLst/>
          </a:prstGeom>
          <a:solidFill>
            <a:srgbClr val="12151C"/>
          </a:solidFill>
          <a:ln w="15875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E8EAED"/>
                </a:solidFill>
                <a:latin typeface="Segoe UI"/>
              </a:rPr>
              <a:t>Replayable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1">
                <a:solidFill>
                  <a:srgbClr val="7EE0C3"/>
                </a:solidFill>
                <a:latin typeface="Segoe UI"/>
              </a:rPr>
              <a:t>/pubkey lets any downstream agent verify offline that this service, not a relay or a cache, produced a citation. /version reports corpus freshness, so callers know exactly how stale the law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8EAED"/>
                </a:solidFill>
                <a:latin typeface="Segoe UI"/>
              </a:rPr>
              <a:t>Why NANDA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solidFill>
            <a:srgbClr val="12151C"/>
          </a:solidFill>
          <a:ln w="19050">
            <a:solidFill>
              <a:srgbClr val="5B9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800" b="1" i="1">
                <a:solidFill>
                  <a:srgbClr val="7EE0C3"/>
                </a:solidFill>
                <a:latin typeface="Segoe UI"/>
              </a:rPr>
              <a:t>“This transforms municipal law from static documents into a reusable capability that any NANDA agent can invoke.”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Composable by design — the last hop in a chain started by another skill (a 311 complaint, a permit application, a code-enforcement lead)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E8EAED"/>
                </a:solidFill>
                <a:latin typeface="Segoe UI"/>
              </a:rPr>
              <a:t>▸  Any agent that can call an HTTP endpoint can invoke it, per SKILL.md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10332720" cy="822960"/>
          </a:xfrm>
          <a:prstGeom prst="rect">
            <a:avLst/>
          </a:prstGeom>
          <a:solidFill>
            <a:srgbClr val="5B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0B0D12"/>
                </a:solidFill>
                <a:latin typeface="Segoe UI"/>
              </a:rPr>
              <a:t>Any agent. Any language. Any framework. Just HTTP.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8EAED"/>
                </a:solidFill>
                <a:latin typeface="Segoe UI"/>
              </a:rPr>
              <a:t>Agent-ready. Deterministic. Citation-backed.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03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✓ Complete NYC Administrative &amp; Health Codes</a:t>
            </a:r>
          </a:p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✓ Deterministic, citation-backed legal evidence</a:t>
            </a:r>
          </a:p>
          <a:p>
            <a:pPr algn="ctr">
              <a:spcAft>
                <a:spcPts val="1000"/>
              </a:spcAft>
            </a:pPr>
            <a:r>
              <a:rPr sz="1800" b="0" i="0">
                <a:solidFill>
                  <a:srgbClr val="7EE0C3"/>
                </a:solidFill>
                <a:latin typeface="Segoe UI"/>
              </a:rPr>
              <a:t>✓ Live, agent-ready HTTP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B9DFF"/>
                </a:solidFill>
                <a:latin typeface="Segoe UI"/>
              </a:rPr>
              <a:t>https://nanda-municipal-laws.vercel.app</a:t>
            </a:r>
          </a:p>
          <a:p>
            <a:pPr algn="ctr"/>
            <a:r>
              <a:rPr sz="1400" b="0" i="0">
                <a:solidFill>
                  <a:srgbClr val="9AA4B2"/>
                </a:solidFill>
                <a:latin typeface="Segoe UI"/>
              </a:rPr>
              <a:t>https://github.com/swamx/nanda-municipal-laws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 i="0">
                <a:solidFill>
                  <a:srgbClr val="9AA4B2"/>
                </a:solidFill>
                <a:latin typeface="Segoe UI"/>
              </a:rPr>
              <a:t>Municipal Law Skill for Autonomous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AA4B2"/>
                </a:solidFill>
                <a:latin typeface="Segoe U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